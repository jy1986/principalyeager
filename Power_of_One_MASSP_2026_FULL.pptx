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61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400" dirty="0">
                <a:solidFill>
                  <a:srgbClr val="FFFFFF"/>
                </a:solidFill>
              </a:rPr>
              <a:t>THE POWER OF ONE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832104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</a:rPr>
              <a:t>How One Student Can Move Your Entire Accountability Score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26517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700-Point K-8  ·  1000-Point High School  ·  District Model — All Three Covered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090672"/>
            <a:ext cx="8321040" cy="27432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Dr. Randy Grierson, Principal          </a:t>
            </a:r>
            <a:r>
              <a:rPr lang="en-US" sz="1400" b="1" dirty="0">
                <a:solidFill>
                  <a:srgbClr val="FFFFFF"/>
                </a:solidFill>
              </a:rPr>
              <a:t>Armstrong Junior High SOCSD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Joshua L. Yeager,      Principal          </a:t>
            </a:r>
            <a:r>
              <a:rPr lang="en-US" sz="1400" b="1" dirty="0">
                <a:solidFill>
                  <a:srgbClr val="FFFFFF"/>
                </a:solidFill>
              </a:rPr>
              <a:t>Partnership Middle at Mississippi State University SOCSD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/>
                </a:solidFill>
              </a:rPr>
              <a:t>MDE Accountability Standards 2025  ·  Section 5 (Proficiency) · Section 6 (Growth) · Section 7 (LPS)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 Will Cover Today — 145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38912" cy="438912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896112"/>
            <a:ext cx="8229600" cy="438912"/>
          </a:xfrm>
          <a:prstGeom prst="rect">
            <a:avLst/>
          </a:prstGeom>
          <a:solidFill>
            <a:srgbClr val="E6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9235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</a:rPr>
              <a:t>10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9235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447C"/>
                </a:solidFill>
              </a:rPr>
              <a:t>Opening Hook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133856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Your school has a projected point total right now. Do you know what it is?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38912" cy="438912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417320"/>
            <a:ext cx="8229600" cy="438912"/>
          </a:xfrm>
          <a:prstGeom prst="rect">
            <a:avLst/>
          </a:prstGeom>
          <a:solidFill>
            <a:srgbClr val="E1F5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1444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</a:rPr>
              <a:t>20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14447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5041"/>
                </a:solidFill>
              </a:rPr>
              <a:t>The Bucket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16550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All three models dissected — 700-pt K-8, 1000-pt HS, and District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438912" cy="438912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1938528"/>
            <a:ext cx="8229600" cy="438912"/>
          </a:xfrm>
          <a:prstGeom prst="rect">
            <a:avLst/>
          </a:prstGeom>
          <a:solidFill>
            <a:srgbClr val="FAEED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</a:rPr>
              <a:t>20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1965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33806"/>
                </a:solidFill>
              </a:rPr>
              <a:t>The Classroom Target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2176272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The math behind 186.1 (EL) and 195.9 (non-EL) — and the spread principle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459736"/>
            <a:ext cx="438912" cy="438912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2459736"/>
            <a:ext cx="8229600" cy="438912"/>
          </a:xfrm>
          <a:prstGeom prst="rect">
            <a:avLst/>
          </a:prstGeom>
          <a:solidFill>
            <a:srgbClr val="FAE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2487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</a:rPr>
              <a:t>20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12B13"/>
                </a:solidFill>
              </a:rPr>
              <a:t>The Power of 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269748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LPS identification, four student buckets, Path A vs Path 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80944"/>
            <a:ext cx="438912" cy="438912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980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2980944"/>
            <a:ext cx="8229600" cy="438912"/>
          </a:xfrm>
          <a:prstGeom prst="rect">
            <a:avLst/>
          </a:prstGeom>
          <a:solidFill>
            <a:srgbClr val="EEED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" y="30083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</a:rPr>
              <a:t>25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30083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C3489"/>
                </a:solidFill>
              </a:rPr>
              <a:t>Item Analysis &amp; Rigor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00200" y="321868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How benchmark DOK and Lexile connect directly to GoA and LPS points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502152"/>
            <a:ext cx="438912" cy="438912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3502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" y="3502152"/>
            <a:ext cx="8229600" cy="438912"/>
          </a:xfrm>
          <a:prstGeom prst="rect">
            <a:avLst/>
          </a:prstGeom>
          <a:solidFill>
            <a:srgbClr val="E6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" y="35295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</a:rPr>
              <a:t>25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00200" y="3529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447C"/>
                </a:solidFill>
              </a:rPr>
              <a:t>The Live Workbook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00200" y="3739896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Upload, project, manage — RYG dashboard, what-if calculator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023360"/>
            <a:ext cx="438912" cy="438912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" y="4023360"/>
            <a:ext cx="8229600" cy="438912"/>
          </a:xfrm>
          <a:prstGeom prst="rect">
            <a:avLst/>
          </a:prstGeom>
          <a:solidFill>
            <a:srgbClr val="E1F5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" y="40507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</a:rPr>
              <a:t>15 min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600200" y="4050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5041"/>
                </a:solidFill>
              </a:rPr>
              <a:t>Principal Management System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600200" y="426110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The 1-2-3 weekly cycle and the three data meeting questions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544568"/>
            <a:ext cx="438912" cy="43891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4544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Q&amp;A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77240" y="4544568"/>
            <a:ext cx="8229600" cy="438912"/>
          </a:xfrm>
          <a:prstGeom prst="rect">
            <a:avLst/>
          </a:prstGeom>
          <a:solidFill>
            <a:srgbClr val="F5A80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2960" y="45720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</a:rPr>
              <a:t>10 min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600200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Working Session + 10 Tangibles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600200" y="4782312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Apply the model to your school. Every principal leaves with 10 takeaways.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B5E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Opening Hook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6858000" cy="3657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Your school has a projected point total right now. Do you know what it is?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Accountability Universes — Same Principle, Different Numbers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Cold open: display this before speaking. Let it land.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2834640" cy="43891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26187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700-pt K-8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19072"/>
            <a:ext cx="2834640" cy="310896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719072"/>
            <a:ext cx="2834640" cy="502920"/>
          </a:xfrm>
          <a:prstGeom prst="rect">
            <a:avLst/>
          </a:prstGeom>
          <a:solidFill>
            <a:srgbClr val="1B2B5E">
              <a:alpha val="15000"/>
            </a:srgbClr>
          </a:solidFill>
          <a:ln w="12700">
            <a:solidFill>
              <a:srgbClr val="1B2B5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B5E"/>
                </a:solidFill>
              </a:rPr>
              <a:t>A = </a:t>
            </a:r>
            <a:r>
              <a:rPr lang="en-US" sz="1400" b="1" dirty="0">
                <a:solidFill>
                  <a:srgbClr val="1B2B5E"/>
                </a:solidFill>
              </a:rPr>
              <a:t>457 of 700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65.3% of max  |  Was: 442 (2024-25)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ELA Proficiency — 95 or 100 pts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ELA Growth of All — 95 or 100 pts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ELA LPS — 95 or 100 pts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Math Proficiency — 95 or 100 pts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Math Growth of All — 95 or 100 pts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Math LPS — 95 or 100 pts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4041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EL Progress — 35 pts (if ≥10 EL)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4663440"/>
            <a:ext cx="2834640" cy="3474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4663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Classroom target: 186.1 (EL)  or  195.9 (non-EL)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1261872"/>
            <a:ext cx="283464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72968" y="126187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1000-pt High School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72968" y="1719072"/>
            <a:ext cx="2834640" cy="310896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72968" y="1719072"/>
            <a:ext cx="2834640" cy="521208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64408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5A82"/>
                </a:solidFill>
              </a:rPr>
              <a:t>A = </a:t>
            </a:r>
            <a:r>
              <a:rPr lang="en-US" sz="1400" b="1" dirty="0">
                <a:solidFill>
                  <a:srgbClr val="065A82"/>
                </a:solidFill>
              </a:rPr>
              <a:t>769 of 1000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64408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76.9% of max  |  Was: 754 (2024-25)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64408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C0392B"/>
                </a:solidFill>
              </a:rPr>
              <a:t>Achievement (EOC English II + Algebra I) — up to 200 pts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64408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C0392B"/>
                </a:solidFill>
              </a:rPr>
              <a:t>Graduation Rate — up to 200 pts  ← largest single bucket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64408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CCR (ACT/WorkKeys benchmarks) — up to 50 pts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64408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Acceleration (AP/IB/Dual/Industry) — up to 50 pts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64408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EL Progress — up to 50 pts (if ≥10 EL)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64408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Participation rate &lt;95% → points deducted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64408" y="4041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GoA and LPS logic same as K-8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72968" y="4663440"/>
            <a:ext cx="28346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72968" y="4663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Classroom target: 230.7 per subject per teacher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17336" y="1261872"/>
            <a:ext cx="2834640" cy="43891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17336" y="126187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1000-pt District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17336" y="1719072"/>
            <a:ext cx="2834640" cy="310896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17336" y="1719072"/>
            <a:ext cx="2834640" cy="548640"/>
          </a:xfrm>
          <a:prstGeom prst="rect">
            <a:avLst/>
          </a:prstGeom>
          <a:solidFill>
            <a:srgbClr val="4A235A">
              <a:alpha val="15000"/>
            </a:srgbClr>
          </a:solidFill>
          <a:ln w="12700">
            <a:solidFill>
              <a:srgbClr val="4A235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08776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235A"/>
                </a:solidFill>
              </a:rPr>
              <a:t>A = </a:t>
            </a:r>
            <a:r>
              <a:rPr lang="en-US" sz="1400" b="1" dirty="0">
                <a:solidFill>
                  <a:srgbClr val="4A235A"/>
                </a:solidFill>
              </a:rPr>
              <a:t>Aggregated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08776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School + District indicators of max  |  Was: School scores carry most weight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08776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Weighted average of ALL school scores in district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08776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Finance compliance indicators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08776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Chronic absenteeism district-level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08776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District growth indicators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08776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One chronically low school drags entire district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08776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Every principal IS a line item on the superintendent's report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08776" y="4041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Anchor school drag: fixing one school = district rating jump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17336" y="4663440"/>
            <a:ext cx="2834640" cy="34747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17336" y="4663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Classroom target: Every school in the district matters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28600" y="5047488"/>
            <a:ext cx="86868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-132862" y="4953625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⚠️  New for 2025-26: A-cutoffs raised for the first time since the Mississippi Miracle reset. More schools will miss the A this year. This presentation is perfectly timed.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1000-Point High School — The Graduation Rate Changes Everything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The HS model looks different but the classroom math principle is identical: 76.9% of each bucket max = A-pace.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828800" cy="62179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Achievement (EOC)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800"/>
                </a:solidFill>
              </a:rPr>
              <a:t>Up to 200 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298448"/>
            <a:ext cx="6766560" cy="62179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40280" y="134416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English II + Algebra I end-of-course exams. Same Proficiency + GoA + LPS logic as K-8. These 3 sub-buckets each = 33% of 200.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182880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Graduation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800"/>
                </a:solidFill>
              </a:rPr>
              <a:t>Up to 200 pts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2029968"/>
            <a:ext cx="6766560" cy="62179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40280" y="207568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Single largest bucket in the HS model. A school losing 10% graduation rate can lose up to 20 pts off the 1000-pt score immediately. Guard this number.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61488"/>
            <a:ext cx="182880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CCR Benchmarks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090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800"/>
                </a:solidFill>
              </a:rPr>
              <a:t>Up to 50 pts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2761488"/>
            <a:ext cx="6766560" cy="62179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40280" y="280720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ACT composite ≥18 or WorkKeys Silver+. Each student who hits benchmark adds to CCR numerator. Same GoA philosophy — know who is close.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1828800" cy="621792"/>
          </a:xfrm>
          <a:prstGeom prst="rect">
            <a:avLst/>
          </a:prstGeom>
          <a:solidFill>
            <a:srgbClr val="6C3489"/>
          </a:solidFill>
          <a:ln w="12700">
            <a:solidFill>
              <a:srgbClr val="6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Acceleration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800"/>
                </a:solidFill>
              </a:rPr>
              <a:t>Up to 50 pts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3493008"/>
            <a:ext cx="6766560" cy="62179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40280" y="353872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AP, IB, Dual Enrollment, Industry credentials earned. Completion matters more than enrollment. One student earning dual credit = points.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224528"/>
            <a:ext cx="18288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251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Participation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800"/>
                </a:solidFill>
              </a:rPr>
              <a:t>DEDUCTION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48840" y="4224528"/>
            <a:ext cx="6766560" cy="62179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40280" y="4270248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Any subject below 95% participation triggers a point penalty. Students who opt out cost the school points they cannot recover anywhere else.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983480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5E"/>
                </a:solidFill>
              </a:rPr>
              <a:t>HS classroom target: 76.9% × 100 pts per bucket × 3 buckets = 230.7 pts combined  |  Same formula. Different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District Model + EL Adjustment — Two Things Every Principal Must Know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38404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DISTRICT MODEL — ANCHOR SCHOOL DRAG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16736"/>
            <a:ext cx="4297680" cy="35204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</a:rPr>
              <a:t>District score = weighted average of all school scores + district-level indicators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</a:rPr>
              <a:t>One chronically low school pulls the entire district average down — disproportionately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597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</a:rPr>
              <a:t>Example: 9 schools averaging 480 pts + 1 school at 320 pts → district average drops to 463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8094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b="1" dirty="0">
                <a:solidFill>
                  <a:srgbClr val="4A235A"/>
                </a:solidFill>
              </a:rPr>
              <a:t>That one school may be the difference between a district A and a district 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50215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b="1" dirty="0">
                <a:solidFill>
                  <a:srgbClr val="4A235A"/>
                </a:solidFill>
              </a:rPr>
              <a:t>Every principal in this room IS a line item on the superintendent's accountability report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0233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</a:rPr>
              <a:t>Fixing one anchor school = district rating improvement for everyone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solidFill>
            <a:srgbClr val="6C3489"/>
          </a:solidFill>
          <a:ln w="12700">
            <a:solidFill>
              <a:srgbClr val="6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EL SCHOOL ADJUSTMENT (≥10 EL STUDENTS)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316736"/>
            <a:ext cx="4023360" cy="35204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1389888"/>
            <a:ext cx="3840480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Non-EL school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728216"/>
            <a:ext cx="3840480" cy="2743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B5E"/>
                </a:solidFill>
              </a:rPr>
              <a:t>Each bucket max = 100 pts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2020824"/>
            <a:ext cx="3840480" cy="2743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B5E"/>
                </a:solidFill>
              </a:rPr>
              <a:t>6 × 100 = 600 academic max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313432"/>
            <a:ext cx="3840480" cy="2743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313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B5E"/>
                </a:solidFill>
              </a:rPr>
              <a:t>65.3% × 100 = 65.3 pts/bucket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606040"/>
            <a:ext cx="3840480" cy="2743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B5E"/>
                </a:solidFill>
              </a:rPr>
              <a:t>Target: 65.3 × 3 = 195.9 per classroom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990088"/>
            <a:ext cx="3840480" cy="320040"/>
          </a:xfrm>
          <a:prstGeom prst="rect">
            <a:avLst/>
          </a:prstGeom>
          <a:solidFill>
            <a:srgbClr val="6C3489"/>
          </a:solidFill>
          <a:ln w="12700">
            <a:solidFill>
              <a:srgbClr val="6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EL school (≥10)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328416"/>
            <a:ext cx="3840480" cy="2743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3328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B5E"/>
                </a:solidFill>
              </a:rPr>
              <a:t>Each bucket max = 95 pts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3621024"/>
            <a:ext cx="3840480" cy="2743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B5E"/>
                </a:solidFill>
              </a:rPr>
              <a:t>6 × 95 = 570 academic max + 35 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3913632"/>
            <a:ext cx="3840480" cy="2743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B5E"/>
                </a:solidFill>
              </a:rPr>
              <a:t>65.3% × 95 = 62.02 pts/bucket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4206240"/>
            <a:ext cx="3840480" cy="2743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B5E"/>
                </a:solidFill>
              </a:rPr>
              <a:t>Target: 62.02 × 3 = 186.1 per classroom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892040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800"/>
                </a:solidFill>
              </a:rPr>
              <a:t>Principal to Principal: </a:t>
            </a:r>
            <a:r>
              <a:rPr lang="en-US" sz="1100" dirty="0">
                <a:solidFill>
                  <a:srgbClr val="FFFFFF"/>
                </a:solidFill>
              </a:rPr>
              <a:t>The formula is identical for both. Multiply 65.3% (K-8) or 76.9% (HS) by your bucket max, then multiply by 3. That is your classroom target.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B5E"/>
                </a:solidFill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Bucket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6858000" cy="3657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Proficiency · Growth of All · LPS — three separate calculations, one classroom score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Every Teacher Has Three Accountability Buckets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88920" cy="43891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PROFICIENCY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88920" cy="205740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Students scoring PL4 or PL5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26060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÷ All students with a current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26060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800"/>
                </a:solidFill>
              </a:rPr>
              <a:t>× 95 or 100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" y="2441448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The straightforward count. How many students crossed into Proficient or Advanced?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401568"/>
            <a:ext cx="2788920" cy="713232"/>
          </a:xfrm>
          <a:prstGeom prst="rect">
            <a:avLst/>
          </a:prstGeom>
          <a:solidFill>
            <a:srgbClr val="1B2B5E">
              <a:alpha val="12000"/>
            </a:srgbClr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" y="3419856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B5E"/>
                </a:solidFill>
              </a:rPr>
              <a:t>Every student who crosses PL4 adds to this bucket. No prior year score needed.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72968" y="914400"/>
            <a:ext cx="2788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72968" y="9144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GROWTH OF ALL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72968" y="1371600"/>
            <a:ext cx="2788920" cy="205740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64408" y="1417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Sum of growth points (0, 1.0, or 1.25)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1737360"/>
            <a:ext cx="26060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64408" y="17647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5A82"/>
                </a:solidFill>
              </a:rPr>
              <a:t>÷ Students with prior year + current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64408" y="2084832"/>
            <a:ext cx="26060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64408" y="21031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800"/>
                </a:solidFill>
              </a:rPr>
              <a:t>× 95 or 100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46120" y="2441448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Measures how much every student grew from last year. Weighted by how far they moved.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3401568"/>
            <a:ext cx="2788920" cy="713232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3419856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5A82"/>
                </a:solidFill>
              </a:rPr>
              <a:t>0 = stayed flat or went down. 1.0 = grew one level. 1.25 = grew 2+ levels OR reached Advanced.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17336" y="914400"/>
            <a:ext cx="27889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17336" y="9144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LPS — LOWEST 25%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17336" y="1371600"/>
            <a:ext cx="2788920" cy="205740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08776" y="1417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Same growth formula, same points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08776" y="1737360"/>
            <a:ext cx="26060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08776" y="17647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÷ Students in the bottom 25% pool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08776" y="2084832"/>
            <a:ext cx="26060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08776" y="21031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800"/>
                </a:solidFill>
              </a:rPr>
              <a:t>× 95 or 100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90488" y="2441448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Identical to GoA — applied ONLY to your lowest 25% by prior year score. Smaller denominator.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17336" y="3401568"/>
            <a:ext cx="2788920" cy="713232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0488" y="3419856"/>
            <a:ext cx="2633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0392B"/>
                </a:solidFill>
              </a:rPr>
              <a:t>This is where The Power of One lives. A smaller denominator = each student carries more weight.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206240"/>
            <a:ext cx="8686800" cy="6858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5E"/>
                </a:solidFill>
              </a:rPr>
              <a:t>The Formula: </a:t>
            </a:r>
            <a:r>
              <a:rPr lang="en-US" sz="1300" dirty="0">
                <a:solidFill>
                  <a:srgbClr val="1B2B5E"/>
                </a:solidFill>
              </a:rPr>
              <a:t>65.3% (K-8 A-pace) × bucket max × 3 buckets = classroom target  |  186.1 (EL) · 195.9 (non-EL K-8) · 230.7 (HS)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MDE Growth Table — How Points Are Earned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49910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Year 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Earns 1.0 Growth Point if reaches 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Earns 1.25 Weighted Points if reaches 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Earns 0 Points if 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5 (Advanced)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PL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Decreases at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4 (Proficient)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PL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PL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 to PL 3 or below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3B  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PL 4 (Proficient)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PL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at GL 3B or 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3A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GL 3B or PL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PL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at GL 3A or 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any PL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PL 4 or PL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at GL 2B or 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2A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GL 2B or any PL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PL 4 or PL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at GL 2A or 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1B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any PL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PL 3, 4, or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at GL 1B or 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1A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GL 1B or any PL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PL 3, 4, or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at GL 1A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46360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</a:rPr>
              <a:t>⚠️  THE 3B CLIFF: A student at GL 3B who stays at GL 3B = ZERO points in GoA AND LPS simultaneously. They must cross into PL 4. This is your highest-priority instructional target.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B5E"/>
                </a:solidFill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Classroom Target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6858000" cy="3657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The math behind 186.1 and 195.9 — and the spread principle that can save a school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Spread Principle — Buckets Offset Each Other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5E"/>
                </a:solidFill>
              </a:rPr>
              <a:t>You do NOT need exactly 62 pts per bucket. Surplus in one bucket rescues a deficit in another — as long as the combined total hits your target.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83464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On Track  |  Combined: 195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773936"/>
            <a:ext cx="2834640" cy="23317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" y="181051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449"/>
                </a:solidFill>
              </a:rPr>
              <a:t>CLASSROOM A — GoA Surplus Rescues LPS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" y="221284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1752" y="2212848"/>
            <a:ext cx="1395663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Proficiency: 58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" y="271576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" y="2715768"/>
            <a:ext cx="2093495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" y="2734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Growth of All: 87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" y="321868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1752" y="3218688"/>
            <a:ext cx="120315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3236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LPS: 50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" y="3767328"/>
            <a:ext cx="268833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1752" y="3803904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449"/>
                </a:solidFill>
              </a:rPr>
              <a:t>Target: 186.1  |  This class: 195  (+8.9)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" y="4096512"/>
            <a:ext cx="2688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GoA at 87 is 25 pts above A-pace. That surplus covers the LPS and Prof shortfalls. Combined = 195. School is fine.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1371600"/>
            <a:ext cx="2834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72968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Critical  |  Combined: 133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72968" y="1773936"/>
            <a:ext cx="2834640" cy="23317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181051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</a:rPr>
              <a:t>CLASSROOM B — Double Deficit — Danger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21284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2212848"/>
            <a:ext cx="1082842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82696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Proficiency: 45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71576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46120" y="2715768"/>
            <a:ext cx="120315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82696" y="2734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Growth of All: 50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21868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46120" y="3218688"/>
            <a:ext cx="9144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82696" y="3236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LPS: 38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3767328"/>
            <a:ext cx="268833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46120" y="3803904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</a:rPr>
              <a:t>Target: 186.1  |  This class: 133  (-53.1)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46120" y="4096512"/>
            <a:ext cx="2688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When GoA AND LPS are both below threshold, no surplus exists to spread. This classroom is 53 pts short. Two buckets in deficit = school is in serious trouble.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17336" y="1371600"/>
            <a:ext cx="283464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17336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On Track  |  Combined: 205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17336" y="1773936"/>
            <a:ext cx="2834640" cy="233172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90488" y="181051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449"/>
                </a:solidFill>
              </a:rPr>
              <a:t>CLASSROOM C — Proficiency Low, Growth Strong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0488" y="221284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90488" y="2212848"/>
            <a:ext cx="1155032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27064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Proficiency: 48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0488" y="271576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90488" y="2715768"/>
            <a:ext cx="20453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27064" y="2734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Growth of All: 85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90488" y="3218688"/>
            <a:ext cx="2286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90488" y="3218688"/>
            <a:ext cx="1732547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27064" y="3236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LPS: 72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90488" y="3767328"/>
            <a:ext cx="2688336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90488" y="3803904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449"/>
                </a:solidFill>
              </a:rPr>
              <a:t>Target: 186.1  |  This class: 205  (+18.9)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90488" y="4096512"/>
            <a:ext cx="2688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Low proficiency (only 48) rescued by outstanding GoA (85) and LPS (72). Growth buckets carry this classroom. Combined = 205.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" y="4983480"/>
            <a:ext cx="86868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28600" y="4828032"/>
            <a:ext cx="8686800" cy="29260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</a:rPr>
              <a:t>The failure pattern: GoA AND LPS both below threshold simultaneously. No amount of proficiency surplus can save that classroom. Two buckets in deficit = school at risk.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4 Teachers × 4 Periods = 16 Data Conversations Per Subject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Each classroom is a separate accountability calculation. One classroom at 140 means another must compensate at 232 to maintain the school average.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14800" cy="3200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ELA — 4 Teachers × 4 Periods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3677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Teacher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63677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3677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2024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63677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163677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00253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Ms. Baucom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97280" y="200253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203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200253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2024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188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002536"/>
            <a:ext cx="804672" cy="33832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171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200253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6616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215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36829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Mr. Dowling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" y="236829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728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2368296"/>
            <a:ext cx="804672" cy="338328"/>
          </a:xfrm>
          <a:prstGeom prst="rect">
            <a:avLst/>
          </a:prstGeom>
          <a:solidFill>
            <a:srgbClr val="FADBD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92024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142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36829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66160" y="236829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6616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188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73405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Ms. Hilley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97280" y="2734056"/>
            <a:ext cx="804672" cy="33832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9728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177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20240" y="273405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92024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0" y="273405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204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566160" y="2734056"/>
            <a:ext cx="804672" cy="33832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56616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168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3099816"/>
            <a:ext cx="804672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Ms. Underwood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97280" y="309981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9728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211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920240" y="309981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92024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193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0" y="3099816"/>
            <a:ext cx="804672" cy="33832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4320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155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566160" y="309981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56616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199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63440" y="1298448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6344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MATH — 4 Teachers × 4 Periods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63440" y="163677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6344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Teacher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0" y="163677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8640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09360" y="163677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0936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132320" y="163677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13232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55280" y="163677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955280" y="1636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P4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63440" y="200253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66344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Ms. Hubbard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86400" y="200253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48640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198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309360" y="2002536"/>
            <a:ext cx="804672" cy="33832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30936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181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132320" y="2002536"/>
            <a:ext cx="804672" cy="33832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13232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175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955280" y="2002536"/>
            <a:ext cx="804672" cy="338328"/>
          </a:xfrm>
          <a:prstGeom prst="rect">
            <a:avLst/>
          </a:prstGeom>
          <a:solidFill>
            <a:srgbClr val="FADBD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955280" y="2002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138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663440" y="236829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66344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Ms. Johnson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486400" y="236829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48640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192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309360" y="236829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30936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207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132320" y="2368296"/>
            <a:ext cx="804672" cy="33832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13232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163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955280" y="236829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955280" y="2368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195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663440" y="273405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66344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Ms. Mullins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486400" y="2734056"/>
            <a:ext cx="804672" cy="33832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48640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185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309360" y="2734056"/>
            <a:ext cx="804672" cy="338328"/>
          </a:xfrm>
          <a:prstGeom prst="rect">
            <a:avLst/>
          </a:prstGeom>
          <a:solidFill>
            <a:srgbClr val="FADBD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30936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143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132320" y="273405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713232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196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55280" y="273405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955280" y="27340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188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663440" y="3099816"/>
            <a:ext cx="804672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66344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Mr. Thompson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486400" y="309981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48640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201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309360" y="3099816"/>
            <a:ext cx="804672" cy="33832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30936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195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7132320" y="3099816"/>
            <a:ext cx="804672" cy="338328"/>
          </a:xfrm>
          <a:prstGeom prst="rect">
            <a:avLst/>
          </a:prstGeom>
          <a:solidFill>
            <a:srgbClr val="FADBD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13232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149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7955280" y="3099816"/>
            <a:ext cx="804672" cy="338328"/>
          </a:xfrm>
          <a:prstGeom prst="rect">
            <a:avLst/>
          </a:prstGeom>
          <a:solidFill>
            <a:srgbClr val="FADBD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7955280" y="30998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152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274320" y="3154680"/>
            <a:ext cx="8503920" cy="25603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274320" y="31546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B5E"/>
                </a:solidFill>
              </a:rPr>
              <a:t>🟢 ≥186.1 On Track    🟡 155-186 Near Target    🔴 &lt;155 Needs Urgent Focus    |    Target: 186.1 (EL K-8 school shown here)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274320" y="34930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5E"/>
                </a:solidFill>
              </a:rPr>
              <a:t>Insights from the grid: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365760" y="3794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▸  Red periods are your Monday morning conversations — not opinions, data.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365760" y="4114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▸  A classroom at 138 needs a peer at 234 to keep the school average at 186. That math compounds quickly.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365760" y="4434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▸  The principal's job: know which red classrooms are structural vs. fixable before MAAP.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36576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</a:rPr>
              <a:t>▸  If 3 of those 8 red periods move from 145 → 188, the school gains ~13 bucket points. That is an 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B5E"/>
                </a:solidFill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Power of One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6858000" cy="3657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LPS identification, four student buckets, and the math that changes how you see every student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Who Is an LPS Student?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338065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360420" cy="10972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2014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201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BOTTOM 25%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68780" y="1234440"/>
            <a:ext cx="3360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TOP 75%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All FAY GoA-Eligible Students (ranked by prior year scale score)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46634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LPS = Lowest Performing Students
</a:t>
            </a:r>
            <a:r>
              <a:rPr lang="en-US" sz="1100" dirty="0">
                <a:solidFill>
                  <a:srgbClr val="1B2B5E"/>
                </a:solidFill>
              </a:rPr>
              <a:t>Bottom 25% of GoA-eligible students
ranked by prior year scale score, rounded up.
Grades 6 and 7 combined into ONE pool.
</a:t>
            </a:r>
            <a:r>
              <a:rPr lang="en-US" sz="1100" i="1" dirty="0">
                <a:solidFill>
                  <a:srgbClr val="1B2B5E"/>
                </a:solidFill>
              </a:rPr>
              <a:t>LPS is SCHOOL-SPECIFIC — not district, not state.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1B2B5E"/>
                </a:solidFill>
              </a:rPr>
              <a:t>A student who is LPS in one building may NOT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1B2B5E"/>
                </a:solidFill>
              </a:rPr>
              <a:t>be LPS in a school with lower performance.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1B2B5E"/>
                </a:solidFill>
              </a:rPr>
              <a:t>Correct your teachers on this immediately.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960120"/>
            <a:ext cx="3291840" cy="868680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77840" y="960120"/>
            <a:ext cx="36576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0" y="9601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98464" y="10515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LPS is recalculated each year from current FAY enrollment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965960"/>
            <a:ext cx="3291840" cy="868680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77840" y="1965960"/>
            <a:ext cx="36576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0" y="196596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98464" y="20574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A student who was LPS but left is replaced by the next-lowest student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2971800"/>
            <a:ext cx="3291840" cy="868680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77840" y="2971800"/>
            <a:ext cx="36576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77840" y="29718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98464" y="30632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LPS students also count in GoA — they appear in BOTH buckets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977640"/>
            <a:ext cx="3291840" cy="868680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77840" y="3977640"/>
            <a:ext cx="36576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0" y="39776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98464" y="40690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Most common misconception: LPS ≠ special education. It is a statistical designation.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658868"/>
            <a:ext cx="9028386" cy="41999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0" y="4658868"/>
            <a:ext cx="902838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A800"/>
                </a:solidFill>
              </a:rPr>
              <a:t>Principal to Principal: </a:t>
            </a:r>
            <a:r>
              <a:rPr lang="en-US" sz="1150" dirty="0">
                <a:solidFill>
                  <a:srgbClr val="FFFFFF"/>
                </a:solidFill>
              </a:rPr>
              <a:t>Your LPS students are sitting in your teachers' classrooms right now. They are not a separate group. Every one of them is in a period with a bucket score attached to their growth.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Four Student Buckets — Know Every Student's Accountability Yield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Not all students produce the same return on instructional investment. Knowing which bucket a student is in changes how you spend your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3891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438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" y="1325880"/>
            <a:ext cx="2286000" cy="77724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3624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LPS STUDENTS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7282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</a:rPr>
              <a:t>HIGHEST YIELD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90672" y="1325880"/>
            <a:ext cx="2834640" cy="7772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32130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B5E"/>
                </a:solidFill>
              </a:rPr>
              <a:t>Bottom 25% of GoA-eligible students by prior year scale 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1620275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Growth counts in BOTH GoA AND LPS simultaneously. Reaching PL4 also hits Proficiency. One student = up to 3 buckets.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71032" y="1325880"/>
            <a:ext cx="2926080" cy="777240"/>
          </a:xfrm>
          <a:prstGeom prst="rect">
            <a:avLst/>
          </a:prstGeom>
          <a:solidFill>
            <a:srgbClr val="EBF0F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39903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</a:rPr>
              <a:t>Know by name. Know their current PL. Know the distance to their nearest growth threshold. This is your highest-priority group.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3891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240280"/>
            <a:ext cx="438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8952" y="2240280"/>
            <a:ext cx="2286000" cy="77724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22768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</a:rPr>
              <a:t>BASIC → APPROACHING PROFICIENT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6426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</a:rPr>
              <a:t>HIGH VISIBILITY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90672" y="2240280"/>
            <a:ext cx="2834640" cy="7772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54680" y="223471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B5E"/>
                </a:solidFill>
              </a:rPr>
              <a:t>Students currently at GL3A or GL3B — one level from crossing into PL4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2540955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Crossing PL4 adds to Proficiency AND GoA simultaneously. Very visible to parents and community. The 3B cliff makes this urgent.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71032" y="2240280"/>
            <a:ext cx="2926080" cy="777240"/>
          </a:xfrm>
          <a:prstGeom prst="rect">
            <a:avLst/>
          </a:prstGeom>
          <a:solidFill>
            <a:srgbClr val="EBF0F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0" y="231343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97706"/>
                </a:solidFill>
              </a:rPr>
              <a:t>Identify all GL3B students. They must score 62%+ correct on MAAP for ANY growth points. These are your Proficiency-rescue students.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438912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154680"/>
            <a:ext cx="438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58952" y="3154680"/>
            <a:ext cx="2286000" cy="777240"/>
          </a:xfrm>
          <a:prstGeom prst="rect">
            <a:avLst/>
          </a:prstGeom>
          <a:solidFill>
            <a:srgbClr val="1E8449">
              <a:alpha val="12000"/>
            </a:srgbClr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" y="31912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</a:rPr>
              <a:t>PROFICIENT — MAINTAINING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3557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449"/>
                </a:solidFill>
              </a:rPr>
              <a:t>PROTECT THE FLOOR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90672" y="3154680"/>
            <a:ext cx="2834640" cy="7772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54680" y="3200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B5E"/>
                </a:solidFill>
              </a:rPr>
              <a:t>Students currently at PL4 — Proficient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54680" y="34061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Regression costs BOTH Proficiency AND GoA points simultaneously. Losing PL4 students is doubly damaging.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71032" y="3154680"/>
            <a:ext cx="2926080" cy="777240"/>
          </a:xfrm>
          <a:prstGeom prst="rect">
            <a:avLst/>
          </a:prstGeom>
          <a:solidFill>
            <a:srgbClr val="EBF0FA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322783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8449"/>
                </a:solidFill>
              </a:rPr>
              <a:t>Do not neglect these students. Regression from PL4 to PL3 = 0 proficiency pts + 0 GoA pts. That is a double loss.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438912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069080"/>
            <a:ext cx="438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58952" y="4069080"/>
            <a:ext cx="2286000" cy="777240"/>
          </a:xfrm>
          <a:prstGeom prst="rect">
            <a:avLst/>
          </a:prstGeom>
          <a:solidFill>
            <a:srgbClr val="1B2B5E">
              <a:alpha val="12000"/>
            </a:srgbClr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04672" y="41056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ADVANCED — PL5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" y="4471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B5E"/>
                </a:solidFill>
              </a:rPr>
              <a:t>MANAGE EFFICIENTLY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90672" y="4069080"/>
            <a:ext cx="2834640" cy="7772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15468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B5E"/>
                </a:solidFill>
              </a:rPr>
              <a:t>Students at PL5 — Advanced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54680" y="4305353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Staying at PL5 earns 1.25 weighted GoA points. Dropping to PL4 still counts as proficient but costs GoA weight.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71032" y="4069080"/>
            <a:ext cx="2926080" cy="777240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35040" y="414223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B5E"/>
                </a:solidFill>
              </a:rPr>
              <a:t>These students are self-directed. Monitor but do not over-invest at the expense of LPS and GL3B students.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5047488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</a:rPr>
              <a:t>Column 2: Who they are  ·  Column 3: Why they matter to accountability  ·  Column 4: What to do before MAAP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Path A vs. Path B — The Decision Every Principal Must Make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Hypothetical: Ms. Smith's class — 25 students, 6 in LPS pool, 10 GoA eligible. Same instructional time. Two different strategies.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023360" cy="38404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PATH A — Chase the Proficiency Threshold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00784"/>
            <a:ext cx="4023360" cy="30632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739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</a:rPr>
              <a:t>Focus all intervention on 1 student at GL3B to cross PL4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</a:rPr>
              <a:t>Student crosses into Proficient on MAAP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883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GoA bucket: +1/10 × 95 = +9.5 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455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LPS bucket: Student is NOT in LPS pool — $0 LPS 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6027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Proficiency bucket: +1/25 × 95 = +3.8 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0599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</a:rPr>
              <a:t>Combined gain: +13.3 pts total across 3 buckets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773168"/>
            <a:ext cx="4023360" cy="411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7731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GAIN: +13.3 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</a:rPr>
              <a:t>vs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298448"/>
            <a:ext cx="40233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PATH B — Move 4 LPS Students One Growth Level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700784"/>
            <a:ext cx="4023360" cy="3063240"/>
          </a:xfrm>
          <a:prstGeom prst="rect">
            <a:avLst/>
          </a:prstGeom>
          <a:solidFill>
            <a:srgbClr val="EBF0F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17739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</a:rPr>
              <a:t>Focus intervention on 4 LPS students — each grows one level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2311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</a:rPr>
              <a:t>All 4 earn 1.0 growth point on MAAP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6883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GoA bucket: +4/10 × 95 = +38.0 pts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1455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LPS bucket: +4/6 × 95 = +63.3 pts  ← same growth, DIFFERENT weight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6027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Proficiency bucket: $0 (none crossed PL4 in this scenario)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0599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Combined gain: +101.3 pts total across 3 buckets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4773168"/>
            <a:ext cx="402336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47731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GAIN: +101.3 pts — 7.6× more impact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Multiplier Effect — Why One LPS Student Matters More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B5E"/>
                </a:solidFill>
              </a:rPr>
              <a:t>When an LPS student grows, their points show up in multiple accountability buckets simultaneously: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389888"/>
            <a:ext cx="27889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38988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 BUCKETS HIT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847088"/>
            <a:ext cx="2788920" cy="263347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88366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LPS Student GL2A → GL3B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5568"/>
                </a:solidFill>
              </a:rPr>
              <a:t>1 full level + crosses PL3 midpoint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7066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</a:rPr>
              <a:t>✅ GoA bucket: earns 1.0 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1821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</a:rPr>
              <a:t>✅ LPS bucket: earns 1.0 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389888"/>
            <a:ext cx="2788920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38988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BUCKETS HIT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847088"/>
            <a:ext cx="2788920" cy="263347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88366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LPS Student GL2A → PL4 (Proficient)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35915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5568"/>
                </a:solidFill>
              </a:rPr>
              <a:t>2 full levels = weighted + crosses proficiency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46120" y="27066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</a:rPr>
              <a:t>✅ GoA bucket: earns 1.25 pts (weighted)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31821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</a:rPr>
              <a:t>✅ LPS bucket: earns 1.25 pts (weighted)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365760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</a:rPr>
              <a:t>✅ Proficiency bucket: counted as Proficient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389888"/>
            <a:ext cx="2788920" cy="438912"/>
          </a:xfrm>
          <a:prstGeom prst="rect">
            <a:avLst/>
          </a:prstGeom>
          <a:solidFill>
            <a:srgbClr val="0F6B3D"/>
          </a:solidFill>
          <a:ln w="12700">
            <a:solidFill>
              <a:srgbClr val="0F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38988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BUCKETS + 1.25 WEIGHTED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1847088"/>
            <a:ext cx="2788920" cy="2633472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72200" y="188366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LPS Student GL2A → PL5 (Advanced)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35915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5568"/>
                </a:solidFill>
              </a:rPr>
              <a:t>Increase to highest level = maximum weighted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27066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6B3D"/>
                </a:solidFill>
              </a:rPr>
              <a:t>✅ GoA bucket: earns 1.25 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1821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6B3D"/>
                </a:solidFill>
              </a:rPr>
              <a:t>✅ LPS bucket: earns 1.25 pts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65760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6B3D"/>
                </a:solidFill>
              </a:rPr>
              <a:t>✅ Proficiency bucket: counted as Proficient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572000"/>
            <a:ext cx="8686800" cy="34747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59028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</a:rPr>
              <a:t>Compare: A non-LPS student making the same GL2A → PL4 move hits ONLY GoA and Proficiency — not LPS. Same growth. Fewer buckets. Far less accountability impact.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4956048"/>
            <a:ext cx="86868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4974336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</a:rPr>
              <a:t>Head-to-head comparison: Student A (non-LPS) vs Student B (LPS) — same move, +0.95 pts vs +19.95 pts — proved on the next slide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Same Growth. Very Different Impact.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Hypothetical: Ms. Johnson's ELA Class — 20 Students  |  5 in LPS Pool  |  12 GoA Eligible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14800" cy="43891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 A — NOT in LPS Pool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411480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2618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 B — IS in LPS Pool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353312"/>
            <a:ext cx="731520" cy="73152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353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5E"/>
                </a:solidFill>
              </a:rPr>
              <a:t>vs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8595360" cy="420624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5E"/>
                </a:solidFill>
              </a:rPr>
              <a:t>Both students make the SAME growth move:  GL 2B (prior year)  →  PL 4 / Proficient (current year BM3)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76272"/>
          <a:ext cx="8595360" cy="24871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 (Non-LPS)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B (LPS)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GoA: Points earned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pt 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pt 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LPS: Points earned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pts  ❌  (not in pool)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pt  ✅  (in pool)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Proficiency: Counted?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✅  (crossed PL4)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✅  (crossed PL4)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 bucket 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1.0/12 eligible = +0.79 pts to GoA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1.0/12 eligible = +0.79 pts to GoA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LPS bucket 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no LPS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1.0/5 scored = +19.0 pts to LPS!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Proficiency 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+1/20 scored = +0.16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+1/20 scored = +0.16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bucket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+0.95 pts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+19.95 pts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74320" y="47274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5E"/>
                </a:solidFill>
              </a:rPr>
              <a:t>Same growth move. Student B impacts LPS by +19 pts. Student A impacts LPS by zero. That is The Power of One.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the LPS Denominator Makes Every Student a Heavy Hitter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5E"/>
                </a:solidFill>
              </a:rPr>
              <a:t>The LPS formula is identical to GoA — but the denominator is only the LPS pool. That smaller pool amplifies every point earned.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788920" cy="38404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GoA Bucket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92224"/>
            <a:ext cx="2788920" cy="26060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84708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5568"/>
                </a:solidFill>
              </a:rPr>
              <a:t>1 pt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÷ 130 students × 95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2423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8346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5568"/>
                </a:solidFill>
              </a:rPr>
              <a:t>= 0.73 pts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1 student earns 1.0 pt in a pool of 130 GoA-eligible students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389888"/>
            <a:ext cx="2788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18688" y="13898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LPS Bucket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18688" y="1792224"/>
            <a:ext cx="2788920" cy="26060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18688" y="184708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1 pt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10128" y="23774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÷ 33 students × 95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01568" y="2761488"/>
            <a:ext cx="2423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18688" y="28346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</a:rPr>
              <a:t>= 2.88 pts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310128" y="3364992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Same 1.0 pt — denominator is only 33 LPS pool students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63056" y="1389888"/>
            <a:ext cx="278892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63056" y="13898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LPS — 1.25 pts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63056" y="1792224"/>
            <a:ext cx="2788920" cy="260604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63056" y="184708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8449"/>
                </a:solidFill>
              </a:rPr>
              <a:t>1.25 pt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54496" y="23774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÷ 33 students × 95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45936" y="2761488"/>
            <a:ext cx="2423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63056" y="28346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449"/>
                </a:solidFill>
              </a:rPr>
              <a:t>= 3.60 pts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54496" y="3364992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1 student earns weighted 1.25 pts in LPS pool of 33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3616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5E"/>
                </a:solidFill>
              </a:rPr>
              <a:t>The GoA denominator is ~130. The LPS denominator is ~33. </a:t>
            </a:r>
            <a:r>
              <a:rPr lang="en-US" sz="1200" dirty="0">
                <a:solidFill>
                  <a:srgbClr val="1B2B5E"/>
                </a:solidFill>
              </a:rPr>
              <a:t>Same 1.0 point = 0.73 pts to GoA vs 2.88 pts to LPS. That is a 4× multiplier on the same student growth.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</a:rPr>
              <a:t>Numbers are illustrative. Your actual denominators vary by school size and GoA-eligible population.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B5E"/>
                </a:solidFill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Item Analysis &amp; Rigor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6858000" cy="3657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The missing link between your classroom benchmarks and your accountability score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Rigor-to-Points Chain — Low DOK = Lost GoA and LPS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A student who only practices DOK 1-2 items on classroom benchmarks will not grow on MAAP. No MAAP growth = no GoA points = no LPS points.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229600" cy="29260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❌  LOW RIGOR 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645920"/>
            <a:ext cx="1572768" cy="86868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" y="168249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Low benchmark rigor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(DOK 1-2 only)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20240" y="1645920"/>
            <a:ext cx="1572768" cy="86868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65960" y="168249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Students appear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proficient on benchmark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3008" y="169164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1645920"/>
            <a:ext cx="1572768" cy="86868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30168" y="168249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No real growth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on MAAP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57216" y="169164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48656" y="1645920"/>
            <a:ext cx="1572768" cy="86868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94376" y="168249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GoA points: LOST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LPS points: LOST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21424" y="169164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12864" y="1645920"/>
            <a:ext cx="1572768" cy="86868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58584" y="168249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School misses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A threshold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8229600" cy="292608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651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</a:rPr>
              <a:t>✅  HIGH RIGOR PATH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971800"/>
            <a:ext cx="1572768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1752" y="300837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</a:rPr>
              <a:t>High benchmark rigor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</a:rPr>
              <a:t>(≥50% DOK 3+)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01752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449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920240" y="2971800"/>
            <a:ext cx="1572768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965960" y="300837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</a:rPr>
              <a:t>Realistic growth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</a:rPr>
              <a:t>signal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93008" y="301752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449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84448" y="2971800"/>
            <a:ext cx="1572768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30168" y="300837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</a:rPr>
              <a:t>MAAP growth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</a:rPr>
              <a:t>predicted accurately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57216" y="301752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449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48656" y="2971800"/>
            <a:ext cx="1572768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94376" y="300837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GoA + LPS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points captured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21424" y="301752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449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912864" y="2971800"/>
            <a:ext cx="1572768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58584" y="3008376"/>
            <a:ext cx="148132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School holds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its rating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7744" y="4074756"/>
            <a:ext cx="2834640" cy="1024128"/>
          </a:xfrm>
          <a:prstGeom prst="rect">
            <a:avLst/>
          </a:prstGeom>
          <a:solidFill>
            <a:srgbClr val="EBF0F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6032" y="3950208"/>
            <a:ext cx="28346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6032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DOK Trap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224528"/>
            <a:ext cx="2651760" cy="568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B2B5E"/>
                </a:solidFill>
              </a:rPr>
              <a:t>Most classrooms benchmark at DOK 1-2. Students score 75%+. Everyone feels good. Then MAAP arrives — DOK 3-4 heavy — and growth disappears. The benchmark was measuring a different skill than the state tests.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0" y="3950208"/>
            <a:ext cx="2834640" cy="1148676"/>
          </a:xfrm>
          <a:prstGeom prst="rect">
            <a:avLst/>
          </a:prstGeom>
          <a:solidFill>
            <a:srgbClr val="EBF0FA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00400" y="3950208"/>
            <a:ext cx="28346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0400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Equity Argument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73552" y="4261104"/>
            <a:ext cx="268833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B2B5E"/>
                </a:solidFill>
              </a:rPr>
              <a:t>Giving LPS students only low-rigor tasks is not differentiation. It is the mechanism by which they never generate MAAP growth and never produce LPS accountability points. Low rigor = no LPS points = school rating damage.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44768" y="4046378"/>
            <a:ext cx="2834640" cy="1024128"/>
          </a:xfrm>
          <a:prstGeom prst="rect">
            <a:avLst/>
          </a:prstGeom>
          <a:solidFill>
            <a:srgbClr val="EBF0FA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44768" y="3950208"/>
            <a:ext cx="283464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44768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Principal's Frame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26110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B2B5E"/>
                </a:solidFill>
              </a:rPr>
              <a:t>If your benchmark doesn't match the cognitive demand of MAAP, you are measuring false comfort. Item analysis exposes this in black and white — with data, not opinion. That is the walk-in conversation.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Mastery Connect DOK Audit — The 3-Step Principal Protocol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A MAAP-aligned benchmark must be ≥50% DOK 3+ items. A benchmark below that threshold is not predictive of MAAP growth. Three minutes to audit any benchmark.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22960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822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1325880"/>
            <a:ext cx="7680960" cy="1078992"/>
          </a:xfrm>
          <a:prstGeom prst="rect">
            <a:avLst/>
          </a:prstGeom>
          <a:solidFill>
            <a:srgbClr val="EBF0F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13624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Before approving any benchmark in Mastery Connect or ELS, check three things: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472184"/>
            <a:ext cx="5943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DOK distribution: what % of items are DOK 1, 2, 3, 4?  Target: ≥50% DOK 3+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34440" y="171907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Standard alignment: is each item aligned to the actual tested standard as written in MS CCRS, or a teacher-simplified version?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2066543"/>
            <a:ext cx="5943600" cy="292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Item difficulty index: easy items inflate class averages and mask real gaps — especially for LPS students who score 65-75% on DOK 1-2 but fail DOK 3 entirely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05472" y="1362456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</a:rPr>
              <a:t>⚠️  Red flag: benchmark average ≥75% but students score Basic on MAAP. The benchmark is not rigorous enough.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822960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514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926080"/>
            <a:ext cx="822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2514600"/>
            <a:ext cx="7680960" cy="1078992"/>
          </a:xfrm>
          <a:prstGeom prst="rect">
            <a:avLst/>
          </a:prstGeom>
          <a:solidFill>
            <a:srgbClr val="EBF0F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25511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</a:rPr>
              <a:t>Pull the item analysis alongside the MAAP item specs for the same standard: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283464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Are the benchmark items testing the same cognitive demand as MAAP?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34440" y="305409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Is the Lexile level of reading passages at or above grade band? (Gr6 = 925-1185L, Gr7 = 970-1120L)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34440" y="327355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For Math: are items procedural (one-step) or applied (multi-step, real-world)? MAAP is dominated by applied items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05472" y="2551176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</a:rPr>
              <a:t>⚠️  If not matching — the benchmark is measuring a different skill. It is false comfort, not predictive data.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22960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703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114800"/>
            <a:ext cx="822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CONNECT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43000" y="3703320"/>
            <a:ext cx="7680960" cy="1078992"/>
          </a:xfrm>
          <a:prstGeom prst="rect">
            <a:avLst/>
          </a:prstGeom>
          <a:solidFill>
            <a:srgbClr val="EBF0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34440" y="37398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5A82"/>
                </a:solidFill>
              </a:rPr>
              <a:t>After benchmark results, cross-reference item difficulty with your student bucket list: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402336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Which LPS students missed only DOK 3+ items? Those are highest-yield intervention targets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34440" y="424281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Students who CAN do DOK 1-2 but haven't been taught DOK 3 = growth waiting to happen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34440" y="44622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B2B5E"/>
                </a:solidFill>
              </a:rPr>
              <a:t>These are not low students — they are under-challenged students. The data proves it.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05472" y="3739896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A82"/>
                </a:solidFill>
              </a:rPr>
              <a:t>⚠️  This crosswalk — item difficulty × student bucket — is the conversation that changes instruction.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919472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800"/>
                </a:solidFill>
              </a:rPr>
              <a:t>The goal: </a:t>
            </a:r>
            <a:r>
              <a:rPr lang="en-US" sz="1100" dirty="0">
                <a:solidFill>
                  <a:srgbClr val="FFFFFF"/>
                </a:solidFill>
              </a:rPr>
              <a:t>Walk into every classroom knowing their DOK distribution. Ask one question: are your lowest students being challenged at the level MAAP will test them?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ELS Lexile Grade Bands — Are Your Passages Challenging Enough?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MAAP ELA requires passages at or above grade band Lexile. A benchmark using passages 200L below grade band is not preparing students for the actual test.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954748"/>
              </p:ext>
            </p:extLst>
          </p:nvPr>
        </p:nvGraphicFramePr>
        <p:xfrm>
          <a:off x="168166" y="1197864"/>
          <a:ext cx="9067274" cy="2752344"/>
        </p:xfrm>
        <a:graphic>
          <a:graphicData uri="http://schemas.openxmlformats.org/drawingml/2006/table">
            <a:tbl>
              <a:tblPr/>
              <a:tblGrid>
                <a:gridCol w="925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5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5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5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MAAP Grade Band Lexile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Benchmark Lexile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Passages Below This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 Target for Benchmarks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420-820L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grade-level ready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DOK 3+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740-1010L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predictive of MAAP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DOK 3+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830-1010L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proficiency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DOK 3+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5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925-1185L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925L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Common gap — many benchmarks use 600-700L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DOK 3+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5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970-1120L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Common gap — many benchmarks use 650-800L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DOK 3+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4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1010-1185L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predictive of MAAP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DOK 3+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799332"/>
            <a:ext cx="8595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37033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MATH: Procedural vs. Applied — MAAP is Dominated by Applied Items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4178807"/>
            <a:ext cx="4160520" cy="886965"/>
          </a:xfrm>
          <a:prstGeom prst="rect">
            <a:avLst/>
          </a:prstGeom>
          <a:solidFill>
            <a:srgbClr val="EBF0FA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419023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</a:rPr>
              <a:t>Procedural (one-step)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39952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5568"/>
                </a:solidFill>
              </a:rPr>
              <a:t>Example: "2x + 4 = 10, solve for x"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622289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</a:rPr>
              <a:t>MAAP weight: ~30% of items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17720" y="4175020"/>
            <a:ext cx="4160520" cy="914400"/>
          </a:xfrm>
          <a:prstGeom prst="rect">
            <a:avLst/>
          </a:prstGeom>
          <a:solidFill>
            <a:srgbClr val="EBF0FA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4096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8449"/>
                </a:solidFill>
              </a:rPr>
              <a:t>Applied (multi-step, real-world)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09160" y="4370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5568"/>
                </a:solidFill>
              </a:rPr>
              <a:t>Example: "A student earns $12/hr and works 8.5 hours. After taxes at 15%, how much does she take home?"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9160" y="4709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449"/>
                </a:solidFill>
              </a:rPr>
              <a:t>MAAP weight: ~70% of items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5029200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" y="4840980"/>
            <a:ext cx="9098280" cy="269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</a:rPr>
              <a:t>Principal audit question: Pull 3 random benchmark items from any teacher's last assessment. Ask: is this DOK 3 or DOK 2? That answer tells you why their GoA score is what it is.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B5E"/>
                </a:solidFill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Live Workbook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6858000" cy="3657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Upload, project, manage — your accountability score in real time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Mississippi Accountability Projection Workbook — 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Available for 700-point K-8 schools and 1000-point high schools. Works for EL and non-EL. All targets auto-adjust from one setup cell.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88920" cy="43891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2788920" cy="292608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9222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</a:rPr>
              <a:t>Setup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Select school type (700-pt or 1000-pt), EL school yes/no. All targets auto-adjust.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A-pace per bucket updates automatically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34670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Combined classroom target updates (186.1 or 195.9 or 230.7)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78561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EL max points update automatically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1298448"/>
            <a:ext cx="2788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18688" y="129844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18688" y="1755648"/>
            <a:ext cx="2788920" cy="292608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0128" y="179222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A82"/>
                </a:solidFill>
              </a:rPr>
              <a:t>Paste Your 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0128" y="219456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4 paste sections: FAY Roster, BM3 percent correct scores, Prior year scales, LPS pool flags.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9077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One row per student per subject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334670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Data from Mastery Connect school export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378561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Prior year scales from district accountability office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1298448"/>
            <a:ext cx="2788920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63056" y="129844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1755648"/>
            <a:ext cx="2788920" cy="2926080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54496" y="179222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8449"/>
                </a:solidFill>
              </a:rPr>
              <a:t>Read Your Projection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54496" y="219456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Projected score calculates automatically. All 6 bucket scores vs A-pace. Teacher classroom table vs combined target.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4496" y="29077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Green = on track. Yellow = near target. Red = needs focus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54496" y="334670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Per-bucket gap for every classroom period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54496" y="378561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EL component updates when June 1 scores arrive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727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</a:rPr>
              <a:t>All formulas verified against MDE Accountability Standards 2025  ·  GoA: MDE Section 6  ·  LPS: MDE Section 7  ·  EL: MDE Section 15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RYG Dashboard + LPS What-If Calculator — Live in the Workbook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"Look at the red classrooms on your dashboard. Those are three conversations you need to have Monday morning." That is when the room goes silent.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5029200" cy="3200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RED / YELLOW / GREEN CLASSROOM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5029200" cy="38404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Ms. Johnson P1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203 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70832" y="1645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On Track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502920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0574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057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Ms. Johnson P2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142 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70832" y="2057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Needs Focus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5029200" cy="38404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468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2468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Ms. Johnson P3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468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188 pts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70832" y="2468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On Track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502920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2880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2880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Ms. Johnson P4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28803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111 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70832" y="2880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Needs Focus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5029200" cy="384048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291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Mr. Dowling P1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195 pts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70832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On Track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029200" cy="384048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37033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3703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Mr. Dowling P2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163 pts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70832" y="3703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Near Target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1298448"/>
            <a:ext cx="329184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77840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LPS WHAT-IF CALCULATOR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1636776"/>
            <a:ext cx="3291840" cy="3200400"/>
          </a:xfrm>
          <a:prstGeom prst="rect">
            <a:avLst/>
          </a:prstGeom>
          <a:solidFill>
            <a:srgbClr val="EBF0FA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Ms. Johnson — Period 2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Current LPS pts: 31.7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LPS pool size: 6 students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0" y="2331720"/>
            <a:ext cx="30175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69280" y="2423160"/>
            <a:ext cx="3017520" cy="475488"/>
          </a:xfrm>
          <a:prstGeom prst="rect">
            <a:avLst/>
          </a:prstGeom>
          <a:solidFill>
            <a:srgbClr val="EBF0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15000" y="24505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B5E"/>
                </a:solidFill>
              </a:rPr>
              <a:t>If 1 more LPS student grows 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35240" y="24505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47.5 pts 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69280" y="2971800"/>
            <a:ext cx="3017520" cy="475488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15000" y="29992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B5E"/>
                </a:solidFill>
              </a:rPr>
              <a:t>If 2 more LPS students grow →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35240" y="29992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63.4 pts ✅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0" y="3520440"/>
            <a:ext cx="3017520" cy="475488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715000" y="354787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B5E"/>
                </a:solidFill>
              </a:rPr>
              <a:t>If 3 more LPS students grow →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635240" y="3547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79.2 pts ✅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69280" y="4069080"/>
            <a:ext cx="3017520" cy="475488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715000" y="409651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B5E"/>
                </a:solidFill>
              </a:rPr>
              <a:t>If 4 more LPS students grow 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635240" y="40965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</a:rPr>
              <a:t>95.0 pts ✅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9280" y="46360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65A82"/>
                </a:solidFill>
              </a:rPr>
              <a:t>← Drag this slider in the workbook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096512"/>
            <a:ext cx="50292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4133088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Principal to Principal: </a:t>
            </a:r>
            <a:r>
              <a:rPr lang="en-US" sz="1100" dirty="0">
                <a:solidFill>
                  <a:srgbClr val="1B2B5E"/>
                </a:solidFill>
              </a:rPr>
              <a:t>The what-if calculator answers the question every principal should be asking: how many of my LPS students need to grow one level before MAAP to push my school over the A threshold?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B5E"/>
                </a:solidFill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Principal Management System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6858000" cy="3657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The 1-2-3 weekly cycle — Know, Ask, Update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1-2-3 Weekly Cycle — Three Non-Negotiable Moves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31520" cy="117043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960120"/>
            <a:ext cx="7818120" cy="1170432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01498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B5E"/>
                </a:solidFill>
              </a:rPr>
              <a:t>Before every classroom visit: pull that teacher's point projection card.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Walk in knowing their LPS count, current bucket scores, distance from 186.1, and which students are at GL3B.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014984"/>
            <a:ext cx="914400" cy="274320"/>
          </a:xfrm>
          <a:prstGeom prst="rect">
            <a:avLst/>
          </a:prstGeom>
          <a:solidFill>
            <a:srgbClr val="1B2B5E">
              <a:alpha val="20000"/>
            </a:srgbClr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0" y="1014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B5E"/>
                </a:solidFill>
              </a:rPr>
              <a:t>Every. Single. Visit.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731520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2585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74320" y="2852928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2258568"/>
            <a:ext cx="7818120" cy="1170432"/>
          </a:xfrm>
          <a:prstGeom prst="rect">
            <a:avLst/>
          </a:prstGeom>
          <a:solidFill>
            <a:srgbClr val="EBF0F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231343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</a:rPr>
              <a:t>Three data meeting questions — non-negotiable: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624328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(1) Who are your LPS students and what did they do on the last benchmark?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(2) Which LPS students grew since last cycle?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(3) What specific instructional move are you making this week for LPS students who did NOT grow?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2313432"/>
            <a:ext cx="914400" cy="27432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0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Data-driven, not opinion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557016"/>
            <a:ext cx="731520" cy="1170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557016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74320" y="4151376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51560" y="3557016"/>
            <a:ext cx="7818120" cy="1170432"/>
          </a:xfrm>
          <a:prstGeom prst="rect">
            <a:avLst/>
          </a:prstGeom>
          <a:solidFill>
            <a:srgbClr val="EBF0FA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43000" y="361188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8449"/>
                </a:solidFill>
              </a:rPr>
              <a:t>After each benchmark window: upload new data.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922776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5E"/>
                </a:solidFill>
              </a:rPr>
              <a:t>Dashboard refreshes. The next conversation is driven by current numbers, not assumptions. The workbook captures every movement.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3611880"/>
            <a:ext cx="914400" cy="274320"/>
          </a:xfrm>
          <a:prstGeom prst="rect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5528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</a:rPr>
              <a:t>Repeat every cycle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4846320"/>
            <a:ext cx="8595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7274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A800"/>
                </a:solidFill>
              </a:rPr>
              <a:t>Before: </a:t>
            </a:r>
            <a:r>
              <a:rPr lang="en-US" sz="1000" dirty="0">
                <a:solidFill>
                  <a:srgbClr val="FFFFFF"/>
                </a:solidFill>
              </a:rPr>
              <a:t>"I liked your think-pair-share. Scores are low, try harder."  →  After: </a:t>
            </a:r>
            <a:r>
              <a:rPr lang="en-US" sz="1000" b="1" dirty="0">
                <a:solidFill>
                  <a:srgbClr val="F5A800"/>
                </a:solidFill>
              </a:rPr>
              <a:t>"Your room is at 142. These 4 LPS students growing one level gets you to 178. Your DOK 3 items are at 18%. We need 50%+. What changes this week?"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Questions &amp; Working Session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444752"/>
            <a:ext cx="8321040" cy="457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</a:rPr>
              <a:t>Apply the model to YOUR school right now: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1.  How many students are in your LPS pool for ELA? For Math?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4505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2.  Of those students, how many are currently earning 0 growth points on your last benchmark?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3.  What % of your benchmark items are DOK 3 or higher? How does that compare to MAAP?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33649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4.  Which of your teacher classrooms has the lowest combined 3-bucket score right now?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38221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5.  If 3 of your LPS students grow ONE level before MAAP — how many points does that add to your LPS bucket?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42793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6.  What is the ONE instructional change you will make Monday morning based on this session?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74573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</a:rPr>
              <a:t>Workbook link shared at the door — scan QR code to download your copy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10 Tangibles — Every Principal Leaves With All 10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384048" cy="7315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941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Projection Workbook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225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For 700-pt K-8 and 1000-pt HS. Paste your data → projection appears.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38404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1764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5A82"/>
                </a:solidFill>
              </a:rPr>
              <a:t>Three-Model Reference Card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048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700-pt K-8 · 1000-pt HS · District — A-cutoffs and bucket weights side by side.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F5A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384048" cy="7315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54203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587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800"/>
                </a:solidFill>
              </a:rPr>
              <a:t>Classroom Target Card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2871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186.1 (EL) · 195.9 (non-EL K-8) · 230.7 (HS) with spread principle illustrated.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38404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36499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3410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LPS Leverage Ratio Calculator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694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How many LPS students need to grow to move your LPS bucket past A-pace?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187952"/>
            <a:ext cx="384048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18795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4233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</a:rPr>
              <a:t>Four-Bucket Student Roster Template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45171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LPS / Basic→Prof / Prof Maintaining / Advanced — by teacher, by period.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89611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896112"/>
            <a:ext cx="384048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89611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941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5A82"/>
                </a:solidFill>
              </a:rPr>
              <a:t>MC DOK Audit Template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1225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3-step protocol for auditing any Mastery Connect benchmark before approving it.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171907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6C34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1719072"/>
            <a:ext cx="384048" cy="731520"/>
          </a:xfrm>
          <a:prstGeom prst="rect">
            <a:avLst/>
          </a:prstGeom>
          <a:solidFill>
            <a:srgbClr val="6C3489"/>
          </a:solidFill>
          <a:ln w="12700">
            <a:solidFill>
              <a:srgbClr val="6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171907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85232" y="1764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3489"/>
                </a:solidFill>
              </a:rPr>
              <a:t>ELS Lexile Grade Band Card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85232" y="2048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MAAP passage requirements by grade. Know if your benchmarks are rigorous enough.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54203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46320" y="2542032"/>
            <a:ext cx="38404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254203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85232" y="2587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Item Analysis ↔ Bucket Crosswalk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85232" y="2871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Which items your LPS students are missing = your highest-yield intervention targets.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336499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6320" y="3364992"/>
            <a:ext cx="384048" cy="7315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336499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285232" y="3410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</a:rPr>
              <a:t>Three Data Questions Script Card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85232" y="3694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KNOW · ASK · UPDATE — the walk-in conversation that changes instruction.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46320" y="4187952"/>
            <a:ext cx="4297680" cy="731520"/>
          </a:xfrm>
          <a:prstGeom prst="rect">
            <a:avLst/>
          </a:prstGeom>
          <a:solidFill>
            <a:srgbClr val="EBF0FA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46320" y="4187952"/>
            <a:ext cx="384048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418795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85232" y="4233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</a:rPr>
              <a:t>1-2-3 Principal Cycle Poster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85232" y="45171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Wall poster for your office. Weekly non-negotiables in 3 steps.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B5E"/>
                </a:solidFill>
              </a:rPr>
              <a:t>THE POWER OF ONE —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38912" cy="6858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804672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800"/>
                </a:solidFill>
              </a:rPr>
              <a:t>LPS students are your highest-yield accountability investment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0698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One LPS student who grows hits GoA AND LPS simultaneously. Reaching PL4 also hits Proficiency. No other student produces that multi-bucket return. Know these students by name.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438912" cy="6858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61848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1645920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800"/>
                </a:solidFill>
              </a:rPr>
              <a:t>The classroom target is: A-pace % × bucket max ×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91109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65.3% × 95 = 62.02 × 3 = 186.1 for EL K-8. 65.3% × 100 = 65.3 × 3 = 195.9 for non-EL K-8. 76.9% × 100 = 76.9 × 3 = 230.7 for HS. The formula never changes. Only the A-percentage and bucket max change.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438912" cy="6858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459736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2487168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800"/>
                </a:solidFill>
              </a:rPr>
              <a:t>Benchmark rigor is an accountability issue, not just an instructional 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75234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If your benchmark is DOK 1-2 only, students will not grow on MAAP. No MAAP growth = no GoA points = no LPS points. Audit the DOK distribution of every benchmark before it is given.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00984"/>
            <a:ext cx="438912" cy="6858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300984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" y="3328416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800"/>
                </a:solidFill>
              </a:rPr>
              <a:t>The spread principle can save a classroom — but two buckets in deficit cannot be rescued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5935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Surplus GoA can cover a weak LPS score. But when GoA AND LPS are both below A-pace simultaneously, no surplus exists. That classroom will drag the school rating down.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42232"/>
            <a:ext cx="438912" cy="68580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142232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4672" y="4169664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800"/>
                </a:solidFill>
              </a:rPr>
              <a:t>Your projected 700 score is a live number, not a final verdict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Every LPS student who grows before MAAP moves the needle. The workbook lets you calculate exactly how many students need to grow to cross the A threshold. Use it to drive the last days of instruction.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5A800">
              <a:alpha val="85000"/>
            </a:srgbClr>
          </a:solidFill>
          <a:ln w="12700">
            <a:solidFill>
              <a:srgbClr val="F5A80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1888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</a:rPr>
              <a:t>"Every child has a name. Every child has a growth trajectory. Every trajectory has a point value. And every point value has an instructional decision behind it. Know all four."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5470</Words>
  <Application>Microsoft Macintosh PowerPoint</Application>
  <PresentationFormat>On-screen Show (16:9)</PresentationFormat>
  <Paragraphs>686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Power of One — Full 145-Minute Edition</dc:title>
  <dc:subject>PptxGenJS Presentation</dc:subject>
  <dc:creator>Dr. Randy Grierson</dc:creator>
  <cp:lastModifiedBy>Yeager, Joshua</cp:lastModifiedBy>
  <cp:revision>2</cp:revision>
  <dcterms:created xsi:type="dcterms:W3CDTF">2026-04-30T02:46:51Z</dcterms:created>
  <dcterms:modified xsi:type="dcterms:W3CDTF">2026-04-30T03:22:51Z</dcterms:modified>
</cp:coreProperties>
</file>